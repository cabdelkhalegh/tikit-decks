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37822" cy="38100"/>
          </a:xfrm>
          <a:prstGeom prst="rect">
            <a:avLst/>
          </a:prstGeom>
          <a:solidFill>
            <a:srgbClr val="00C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53796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8A8A9A"/>
                </a:solidFill>
              </a:defRPr>
            </a:pPr>
            <a:r>
              <a:t>Prepared by TiKiT Agency for Humanz x 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13716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FF4060"/>
                </a:solidFill>
              </a:defRPr>
            </a:pPr>
            <a:r>
              <a:t>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00C65B"/>
                </a:solidFill>
              </a:defRPr>
            </a:pPr>
            <a:r>
              <a:t>FRESH DROP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University Activations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8328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00D4AA"/>
                </a:solidFill>
              </a:defRPr>
            </a:pPr>
            <a:r>
              <a:t>Mentos KSA -- 2025 Campus Campaign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2062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8A8A9A"/>
                </a:solidFill>
              </a:defRPr>
            </a:pPr>
            <a:r>
              <a:t>April -- December 2026  |  Riyadh . Jeddah . Dammam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8A8A9A"/>
                </a:solidFill>
              </a:defRPr>
            </a:pPr>
            <a:r>
              <a:t>TIKIT AGENCY x HUMANZ x MENTOS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75645" cy="38100"/>
          </a:xfrm>
          <a:prstGeom prst="rect">
            <a:avLst/>
          </a:prstGeom>
          <a:solidFill>
            <a:srgbClr val="00C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53796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8A8A9A"/>
                </a:solidFill>
              </a:defRPr>
            </a:pPr>
            <a:r>
              <a:t>Prepared by TiKiT Agency for Humanz x 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13716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FF4060"/>
                </a:solidFill>
              </a:defRPr>
            </a:pPr>
            <a:r>
              <a:t>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1">
                <a:solidFill>
                  <a:srgbClr val="00C65B"/>
                </a:solidFill>
              </a:defRPr>
            </a:pPr>
            <a:r>
              <a:t>THE BRIEF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What Mentos Needs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1828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0C65B"/>
                </a:solidFill>
              </a:defRPr>
            </a:pPr>
            <a: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945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8A8A9A"/>
                </a:solidFill>
              </a:defRPr>
            </a:pPr>
            <a:r>
              <a:t>Months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1645920"/>
            <a:ext cx="1828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0C65B"/>
                </a:solidFill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1945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8A8A9A"/>
                </a:solidFill>
              </a:defRPr>
            </a:pPr>
            <a:r>
              <a:t>Cities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1645920"/>
            <a:ext cx="1828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0C65B"/>
                </a:solidFill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21945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8A8A9A"/>
                </a:solidFill>
              </a:defRPr>
            </a:pPr>
            <a:r>
              <a:t>Products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0" y="1645920"/>
            <a:ext cx="1828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0C65B"/>
                </a:solidFill>
              </a:defRPr>
            </a:pPr>
            <a:r>
              <a:t>18-24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21945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8A8A9A"/>
                </a:solidFill>
              </a:defRPr>
            </a:pPr>
            <a:r>
              <a:t>Age Target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813468" cy="38100"/>
          </a:xfrm>
          <a:prstGeom prst="rect">
            <a:avLst/>
          </a:prstGeom>
          <a:solidFill>
            <a:srgbClr val="00C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53796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8A8A9A"/>
                </a:solidFill>
              </a:defRPr>
            </a:pPr>
            <a:r>
              <a:t>Prepared by TiKiT Agency for Humanz x 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13716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FF4060"/>
                </a:solidFill>
              </a:defRPr>
            </a:pPr>
            <a:r>
              <a:t>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1">
                <a:solidFill>
                  <a:srgbClr val="00C65B"/>
                </a:solidFill>
              </a:defRPr>
            </a:pPr>
            <a:r>
              <a:t>OUR 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The Big Idea: FRESH DROP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Fresh Drop borrows from sneaker and streetwear drop culture -- something Saudi Gen Z deeply understands.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51290" cy="38100"/>
          </a:xfrm>
          <a:prstGeom prst="rect">
            <a:avLst/>
          </a:prstGeom>
          <a:solidFill>
            <a:srgbClr val="00C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53796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8A8A9A"/>
                </a:solidFill>
              </a:defRPr>
            </a:pPr>
            <a:r>
              <a:t>Prepared by TiKiT Agency for Humanz x 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13716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FF4060"/>
                </a:solidFill>
              </a:defRPr>
            </a:pPr>
            <a:r>
              <a:t>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1">
                <a:solidFill>
                  <a:srgbClr val="00C65B"/>
                </a:solidFill>
              </a:defRPr>
            </a:pPr>
            <a:r>
              <a:t>TARGET AUDIENCE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00D4AA"/>
                </a:solidFill>
              </a:defRPr>
            </a:pPr>
            <a:r>
              <a:t>Saudi Gen Z: The Fresh Generation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00200"/>
            <a:ext cx="1645920" cy="279400"/>
          </a:xfrm>
          <a:prstGeom prst="roundRect">
            <a:avLst/>
          </a:prstGeom>
          <a:solidFill>
            <a:srgbClr val="3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8000" y="1574800"/>
            <a:ext cx="1371600" cy="279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FF0044"/>
                </a:solidFill>
              </a:defRPr>
            </a:pPr>
            <a:r>
              <a:t>TikTok -- Discovery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0" y="1600200"/>
            <a:ext cx="1645920" cy="279400"/>
          </a:xfrm>
          <a:prstGeom prst="roundRect">
            <a:avLst/>
          </a:prstGeom>
          <a:solidFill>
            <a:srgbClr val="303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36800" y="1574800"/>
            <a:ext cx="1371600" cy="279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FFFC00"/>
                </a:solidFill>
              </a:defRPr>
            </a:pPr>
            <a:r>
              <a:t>Snapchat -- Real Life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0" y="1600200"/>
            <a:ext cx="1645920" cy="279400"/>
          </a:xfrm>
          <a:prstGeom prst="roundRect">
            <a:avLst/>
          </a:prstGeom>
          <a:solidFill>
            <a:srgbClr val="28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65600" y="1574800"/>
            <a:ext cx="1371600" cy="279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E1306C"/>
                </a:solidFill>
              </a:defRPr>
            </a:pPr>
            <a:r>
              <a:t>Instagram -- Identity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689113" cy="38100"/>
          </a:xfrm>
          <a:prstGeom prst="rect">
            <a:avLst/>
          </a:prstGeom>
          <a:solidFill>
            <a:srgbClr val="00C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53796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8A8A9A"/>
                </a:solidFill>
              </a:defRPr>
            </a:pPr>
            <a:r>
              <a:t>Prepared by TiKiT Agency for Humanz x 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13716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FF4060"/>
                </a:solidFill>
              </a:defRPr>
            </a:pPr>
            <a:r>
              <a:t>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1">
                <a:solidFill>
                  <a:srgbClr val="00C65B"/>
                </a:solidFill>
              </a:defRPr>
            </a:pPr>
            <a:r>
              <a:t>ACTIVATION CALENDAR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00C65B"/>
                </a:solidFill>
              </a:defRPr>
            </a:pPr>
            <a:r>
              <a:t>9 Months of Fresh Drops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626936" cy="38100"/>
          </a:xfrm>
          <a:prstGeom prst="rect">
            <a:avLst/>
          </a:prstGeom>
          <a:solidFill>
            <a:srgbClr val="00C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53796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8A8A9A"/>
                </a:solidFill>
              </a:defRPr>
            </a:pPr>
            <a:r>
              <a:t>Prepared by TiKiT Agency for Humanz x 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13716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FF4060"/>
                </a:solidFill>
              </a:defRPr>
            </a:pPr>
            <a:r>
              <a:t>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1">
                <a:solidFill>
                  <a:srgbClr val="00C65B"/>
                </a:solidFill>
              </a:defRPr>
            </a:pPr>
            <a:r>
              <a:t>DIGITAL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00C65B"/>
                </a:solidFill>
              </a:defRPr>
            </a:pPr>
            <a:r>
              <a:t>Platform Playbook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564758" cy="38100"/>
          </a:xfrm>
          <a:prstGeom prst="rect">
            <a:avLst/>
          </a:prstGeom>
          <a:solidFill>
            <a:srgbClr val="00C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53796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8A8A9A"/>
                </a:solidFill>
              </a:defRPr>
            </a:pPr>
            <a:r>
              <a:t>Prepared by TiKiT Agency for Humanz x 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13716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FF4060"/>
                </a:solidFill>
              </a:defRPr>
            </a:pPr>
            <a:r>
              <a:t>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1">
                <a:solidFill>
                  <a:srgbClr val="00C65B"/>
                </a:solidFill>
              </a:defRPr>
            </a:pPr>
            <a:r>
              <a:t>CREATOR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00D4AA"/>
                </a:solidFill>
              </a:defRPr>
            </a:pPr>
            <a:r>
              <a:t>The Fresh Squad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02581" cy="38100"/>
          </a:xfrm>
          <a:prstGeom prst="rect">
            <a:avLst/>
          </a:prstGeom>
          <a:solidFill>
            <a:srgbClr val="00C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53796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8A8A9A"/>
                </a:solidFill>
              </a:defRPr>
            </a:pPr>
            <a:r>
              <a:t>Prepared by TiKiT Agency for Humanz x 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13716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FF4060"/>
                </a:solidFill>
              </a:defRPr>
            </a:pPr>
            <a:r>
              <a:t>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1">
                <a:solidFill>
                  <a:srgbClr val="00C65B"/>
                </a:solidFill>
              </a:defRPr>
            </a:pPr>
            <a:r>
              <a:t>UNIVERSITY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00C65B"/>
                </a:solidFill>
              </a:defRPr>
            </a:pPr>
            <a:r>
              <a:t>9 Campuses. 3 Cities. One Fresh Movement.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440404" cy="38100"/>
          </a:xfrm>
          <a:prstGeom prst="rect">
            <a:avLst/>
          </a:prstGeom>
          <a:solidFill>
            <a:srgbClr val="00C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53796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8A8A9A"/>
                </a:solidFill>
              </a:defRPr>
            </a:pPr>
            <a:r>
              <a:t>Prepared by TiKiT Agency for Humanz x 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13716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FF4060"/>
                </a:solidFill>
              </a:defRPr>
            </a:pPr>
            <a:r>
              <a:t>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1">
                <a:solidFill>
                  <a:srgbClr val="00C65B"/>
                </a:solidFill>
              </a:defRPr>
            </a:pPr>
            <a:r>
              <a:t>INVESTMENT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00C65B"/>
                </a:solidFill>
              </a:defRPr>
            </a:pPr>
            <a:r>
              <a:t>Budget Options -- Choose Your Scale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371600"/>
            <a:ext cx="3657600" cy="4572000"/>
          </a:xfrm>
          <a:prstGeom prst="roundRect">
            <a:avLst/>
          </a:prstGeom>
          <a:solidFill>
            <a:srgbClr val="0D152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OPTION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AED 100K-125K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11480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Est. Reach: 500K-800K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1371600"/>
            <a:ext cx="3657600" cy="4572000"/>
          </a:xfrm>
          <a:prstGeom prst="roundRect">
            <a:avLst/>
          </a:prstGeom>
          <a:solidFill>
            <a:srgbClr val="0D1520"/>
          </a:solidFill>
          <a:ln w="12700">
            <a:solidFill>
              <a:srgbClr val="00C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46304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C65B"/>
                </a:solidFill>
              </a:defRPr>
            </a:pPr>
            <a:r>
              <a:t>OPTION B RECOMMENDED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173736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AED 320K-380K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411480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C65B"/>
                </a:solidFill>
              </a:defRPr>
            </a:pPr>
            <a:r>
              <a:t>Est. Reach: 4M-6M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371600"/>
            <a:ext cx="3657600" cy="4572000"/>
          </a:xfrm>
          <a:prstGeom prst="roundRect">
            <a:avLst/>
          </a:prstGeom>
          <a:solidFill>
            <a:srgbClr val="0D1520"/>
          </a:solidFill>
          <a:ln w="12700">
            <a:solidFill>
              <a:srgbClr val="FFC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46304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C800"/>
                </a:solidFill>
              </a:defRPr>
            </a:pPr>
            <a:r>
              <a:t>OPTION 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173736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AED 550K-650K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411480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C800"/>
                </a:solidFill>
              </a:defRPr>
            </a:pPr>
            <a:r>
              <a:t>Est. Reach: 10M-15M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378226" cy="38100"/>
          </a:xfrm>
          <a:prstGeom prst="rect">
            <a:avLst/>
          </a:prstGeom>
          <a:solidFill>
            <a:srgbClr val="00C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53796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8A8A9A"/>
                </a:solidFill>
              </a:defRPr>
            </a:pPr>
            <a:r>
              <a:t>Prepared by TiKiT Agency for Humanz x 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13716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FF4060"/>
                </a:solidFill>
              </a:defRPr>
            </a:pPr>
            <a:r>
              <a:t>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1">
                <a:solidFill>
                  <a:srgbClr val="00C65B"/>
                </a:solidFill>
              </a:defRPr>
            </a:pPr>
            <a:r>
              <a:t>MEASUREMENT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00D4AA"/>
                </a:solidFill>
              </a:defRPr>
            </a:pPr>
            <a:r>
              <a:t>KPIs and Performance Targets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316049" cy="38100"/>
          </a:xfrm>
          <a:prstGeom prst="rect">
            <a:avLst/>
          </a:prstGeom>
          <a:solidFill>
            <a:srgbClr val="00C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53796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8A8A9A"/>
                </a:solidFill>
              </a:defRPr>
            </a:pPr>
            <a:r>
              <a:t>Prepared by TiKiT Agency for Humanz x 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13716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FF4060"/>
                </a:solidFill>
              </a:defRPr>
            </a:pPr>
            <a:r>
              <a:t>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1">
                <a:solidFill>
                  <a:srgbClr val="00C65B"/>
                </a:solidFill>
              </a:defRPr>
            </a:pPr>
            <a:r>
              <a:t>ON-GROUND PRESENCE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00C65B"/>
                </a:solidFill>
              </a:defRPr>
            </a:pPr>
            <a:r>
              <a:t>Offline Event Options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253872" cy="38100"/>
          </a:xfrm>
          <a:prstGeom prst="rect">
            <a:avLst/>
          </a:prstGeom>
          <a:solidFill>
            <a:srgbClr val="00C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53796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8A8A9A"/>
                </a:solidFill>
              </a:defRPr>
            </a:pPr>
            <a:r>
              <a:t>Prepared by TiKiT Agency for Humanz x 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13716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FF4060"/>
                </a:solidFill>
              </a:defRPr>
            </a:pPr>
            <a:r>
              <a:t>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1">
                <a:solidFill>
                  <a:srgbClr val="00C65B"/>
                </a:solidFill>
              </a:defRPr>
            </a:pPr>
            <a:r>
              <a:t>WHY 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00C65B"/>
                </a:solidFill>
              </a:defRPr>
            </a:pPr>
            <a:r>
              <a:t>Why TiKiT Agency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00C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53796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8A8A9A"/>
                </a:solidFill>
              </a:defRPr>
            </a:pPr>
            <a:r>
              <a:t>Prepared by TiKiT Agency for Humanz x 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13716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FF4060"/>
                </a:solidFill>
              </a:defRPr>
            </a:pPr>
            <a:r>
              <a:t>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1">
                <a:solidFill>
                  <a:srgbClr val="00C65B"/>
                </a:solidFill>
              </a:defRPr>
            </a:pPr>
            <a:r>
              <a:t>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00C65B"/>
                </a:solidFill>
              </a:defRPr>
            </a:pPr>
            <a:r>
              <a:t>Lets Make It Fresh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