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937822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128016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0C65B"/>
                </a:solidFill>
              </a:rPr>
              <a:t>FRESH DROP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2743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University Activations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3566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D4AA"/>
                </a:solidFill>
              </a:rPr>
              <a:t>Mentos KSA — 2025 Campus Campaign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4160520"/>
            <a:ext cx="118872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4297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8A9A"/>
                </a:solidFill>
              </a:rPr>
              <a:t>April – December 2026  |  Riyadh · Jeddah · Dammam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4846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8A9A"/>
                </a:solidFill>
              </a:rPr>
              <a:t>TIKIT AGENCY × HUMANZ × MENTOS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875645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THE BRIEF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Mentos Needs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Months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Cities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18–24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Age Target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2971800"/>
            <a:ext cx="2743200" cy="13716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0815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🎯 Objectives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3383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Drive trial &amp; conversion. Create virality on campus. Embed Mentos in daily student routines. Build cultural relevance with Saudi Gen Z.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2971800"/>
            <a:ext cx="2743200" cy="13716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20440" y="30815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📍 Geography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3383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Major universities in Riyadh, Jeddah, and Dammam + post-meal locations near campuses.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7920" y="2971800"/>
            <a:ext cx="2743200" cy="13716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55080" y="30815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📦 Hero Products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383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White Flip-Top Box (Q2 NPD) · Fresh Dive (Q2) · Air Action (Q3/Q4) · Pure Fresh (always-on)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52560" y="2971800"/>
            <a:ext cx="2743200" cy="13716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89720" y="30815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💰 Budget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9720" y="3383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Client stated: AED 100K–125K. TiKiT recommended: AED 320K–650K. Three investment options presented.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2813468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OUR APPROACH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Big Idea: </a:t>
            </a:r>
          </a:p>
          <a:p>
            <a:pPr algn="l"/>
            <a:r>
              <a:rPr sz="2800" b="1">
                <a:solidFill>
                  <a:srgbClr val="00C65B"/>
                </a:solidFill>
              </a:rPr>
              <a:t>FRESH DROP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"Fresh Drop" borrows from sneaker and streetwear drop culture — something Saudi Gen Z deeply understands.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331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"Drop" Works Triple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269748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C8D8"/>
                </a:solidFill>
              </a:rPr>
              <a:t>  ✦  Product Drop — new Mentos SKU launches land like coveted releases</a:t>
            </a:r>
          </a:p>
          <a:p>
            <a:pPr algn="l"/>
            <a:r>
              <a:rPr sz="1100" b="0">
                <a:solidFill>
                  <a:srgbClr val="C8C8D8"/>
                </a:solidFill>
              </a:rPr>
              <a:t>  ✦  Beat Drop — music and content culture tie-ins</a:t>
            </a:r>
          </a:p>
          <a:p>
            <a:pPr algn="l"/>
            <a:r>
              <a:rPr sz="1100" b="0">
                <a:solidFill>
                  <a:srgbClr val="C8C8D8"/>
                </a:solidFill>
              </a:rPr>
              <a:t>  ✦  Fresh Drop — the moment you pop a Mentos and your vibe shifts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2331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It Works for Saudi Gen 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269748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C8D8"/>
                </a:solidFill>
              </a:rPr>
              <a:t>  ✦  Drop culture = status, being first, social currency</a:t>
            </a:r>
          </a:p>
          <a:p>
            <a:pPr algn="l"/>
            <a:r>
              <a:rPr sz="1100" b="0">
                <a:solidFill>
                  <a:srgbClr val="C8C8D8"/>
                </a:solidFill>
              </a:rPr>
              <a:t>  ✦  "What's dropping next?" keeps Mentos in the feed</a:t>
            </a:r>
          </a:p>
          <a:p>
            <a:pPr algn="l"/>
            <a:r>
              <a:rPr sz="1100" b="0">
                <a:solidFill>
                  <a:srgbClr val="C8C8D8"/>
                </a:solidFill>
              </a:rPr>
              <a:t>  ✦  Authentically Saudi — cannot be replicated elsewhere</a:t>
            </a:r>
          </a:p>
          <a:p>
            <a:pPr algn="l"/>
            <a:r>
              <a:rPr sz="1100" b="0">
                <a:solidFill>
                  <a:srgbClr val="C8C8D8"/>
                </a:solidFill>
              </a:rPr>
              <a:t>  ✦  Connects on-ground moments to digital virality</a:t>
            </a:r>
          </a:p>
          <a:p>
            <a:pPr algn="l"/>
            <a:r>
              <a:rPr sz="1100" b="0">
                <a:solidFill>
                  <a:srgbClr val="C8C8D8"/>
                </a:solidFill>
              </a:rPr>
              <a:t>  ✦  Every month has a reason to talk about Mentos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4389120"/>
            <a:ext cx="1371600" cy="254000"/>
          </a:xfrm>
          <a:prstGeom prst="ellipse">
            <a:avLst/>
          </a:prstGeom>
          <a:solidFill>
            <a:srgbClr val="002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" y="4363720"/>
            <a:ext cx="12192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C65B"/>
                </a:solidFill>
              </a:rPr>
              <a:t>فريش دروب</a:t>
            </a:r>
          </a:p>
        </p:txBody>
      </p:sp>
      <p:sp>
        <p:nvSpPr>
          <p:cNvPr id="47" name="Oval 46"/>
          <p:cNvSpPr/>
          <p:nvPr/>
        </p:nvSpPr>
        <p:spPr>
          <a:xfrm>
            <a:off x="2103120" y="4389120"/>
            <a:ext cx="1828800" cy="254000"/>
          </a:xfrm>
          <a:prstGeom prst="ellipse">
            <a:avLst/>
          </a:prstGeom>
          <a:solidFill>
            <a:srgbClr val="0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79320" y="4363720"/>
            <a:ext cx="1676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D4AA"/>
                </a:solidFill>
              </a:rPr>
              <a:t>ALWAYS-ON DRUMBEAT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375129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TARGET AUDIENCE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Saudi Gen Z: The </a:t>
            </a:r>
          </a:p>
          <a:p>
            <a:pPr algn="l"/>
            <a:r>
              <a:rPr sz="2800" b="1">
                <a:solidFill>
                  <a:srgbClr val="00D4AA"/>
                </a:solidFill>
              </a:rPr>
              <a:t>Fresh Generation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48640" y="1691640"/>
            <a:ext cx="1828800" cy="254000"/>
          </a:xfrm>
          <a:prstGeom prst="ellipse">
            <a:avLst/>
          </a:prstGeom>
          <a:solidFill>
            <a:srgbClr val="3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840" y="1666240"/>
            <a:ext cx="1676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0044"/>
                </a:solidFill>
              </a:rPr>
              <a:t>TikTok — Discovery</a:t>
            </a:r>
          </a:p>
        </p:txBody>
      </p:sp>
      <p:sp>
        <p:nvSpPr>
          <p:cNvPr id="42" name="Oval 41"/>
          <p:cNvSpPr/>
          <p:nvPr/>
        </p:nvSpPr>
        <p:spPr>
          <a:xfrm>
            <a:off x="2514600" y="1691640"/>
            <a:ext cx="1828800" cy="254000"/>
          </a:xfrm>
          <a:prstGeom prst="ellipse">
            <a:avLst/>
          </a:prstGeom>
          <a:solidFill>
            <a:srgbClr val="33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90800" y="1666240"/>
            <a:ext cx="1676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C00"/>
                </a:solidFill>
              </a:rPr>
              <a:t>Snapchat — Real Life</a:t>
            </a:r>
          </a:p>
        </p:txBody>
      </p:sp>
      <p:sp>
        <p:nvSpPr>
          <p:cNvPr id="44" name="Oval 43"/>
          <p:cNvSpPr/>
          <p:nvPr/>
        </p:nvSpPr>
        <p:spPr>
          <a:xfrm>
            <a:off x="4480560" y="1691640"/>
            <a:ext cx="1828800" cy="254000"/>
          </a:xfrm>
          <a:prstGeom prst="ellipse">
            <a:avLst/>
          </a:prstGeom>
          <a:solidFill>
            <a:srgbClr val="2A0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56760" y="1666240"/>
            <a:ext cx="1676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1306C"/>
                </a:solidFill>
              </a:rPr>
              <a:t>Instagram — Identity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2286000"/>
            <a:ext cx="2743200" cy="155448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2395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👤 Identity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6974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Proudly Saudi, globally connected. Code-switch between Arabic meme culture and English internet slang.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83280" y="2286000"/>
            <a:ext cx="2743200" cy="155448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20440" y="2395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Social Currency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0440" y="26974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Status = being first to know, first to try, first to post. Peer influence &gt; advertising.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2286000"/>
            <a:ext cx="2743200" cy="155448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5080" y="2395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🎮 Passion Points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5080" y="26974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Anime · Gaming/Esports · Local music · Street food · Football · Fashion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052560" y="2286000"/>
            <a:ext cx="2743200" cy="155448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89720" y="2395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☕ The Fresh Moment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20" y="26974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Coffee after lunch, gum after coffee, fresh breath before the next interaction.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41605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75%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Daily TikTok Users 18-24 KSA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89120" y="41605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92%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Snapchat Penetration KSA Gen Z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1605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#1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KSA = World Top Social Media Market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4689113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ACTIVATION CALENDAR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9 Months of </a:t>
            </a:r>
          </a:p>
          <a:p>
            <a:pPr algn="l"/>
            <a:r>
              <a:rPr sz="2800" b="1">
                <a:solidFill>
                  <a:srgbClr val="00C65B"/>
                </a:solidFill>
              </a:rPr>
              <a:t>Fresh Drops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7160" y="1783080"/>
            <a:ext cx="1308912" cy="508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APR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Launch #FreshDrop 30 creators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91792" y="1783080"/>
            <a:ext cx="1308912" cy="508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91792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91792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Taste Test Challenge UGC Wave 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46424" y="1783080"/>
            <a:ext cx="1308912" cy="508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46424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JUN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6424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Finals Kit Fresh Dive Sampling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01056" y="1783080"/>
            <a:ext cx="1308912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1056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JUL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1056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Summer Fresh Spots series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55688" y="1783080"/>
            <a:ext cx="1308912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555688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55688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Air Action seeding + teasers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10320" y="1783080"/>
            <a:ext cx="1308912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10320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SEP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10320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Welcome Back Drop new creators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64952" y="1783080"/>
            <a:ext cx="1308912" cy="5080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64952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4952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National Day Campus Competition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19584" y="1783080"/>
            <a:ext cx="1308912" cy="5080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584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19584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Leaderboard Peak creator collabs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74216" y="1783080"/>
            <a:ext cx="1308912" cy="5080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974216" y="1920240"/>
            <a:ext cx="1308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74216" y="2194560"/>
            <a:ext cx="130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A8A9A"/>
                </a:solidFill>
              </a:rPr>
              <a:t>Finals 2.0 Campaign wrap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20040" y="2971800"/>
            <a:ext cx="3749039" cy="347472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768" y="3063240"/>
            <a:ext cx="1463040" cy="2286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9768" y="3044952"/>
            <a:ext cx="14630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</a:rPr>
              <a:t>PHASE 1 — Q2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4632" y="3364992"/>
            <a:ext cx="3419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The Launch Drop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4632" y="3749039"/>
            <a:ext cx="34198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B4"/>
                </a:solidFill>
              </a:rPr>
              <a:t>White Flip-Top Box + Fresh Dive. Campaign launch, first challenge wave, Snap AR lens, 30 creators activated.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251959" y="2971800"/>
            <a:ext cx="3749039" cy="347472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61687" y="3063240"/>
            <a:ext cx="1463040" cy="2286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61687" y="3044952"/>
            <a:ext cx="14630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</a:rPr>
              <a:t>PHASE 2 — Q3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16551" y="3364992"/>
            <a:ext cx="3419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The Summer Drop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16551" y="3749039"/>
            <a:ext cx="34198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B4"/>
                </a:solidFill>
              </a:rPr>
              <a:t>Air Action + Pure Fresh. Summer content series, back-to-campus teasers, creator roster refresh.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183878" y="2971800"/>
            <a:ext cx="3749039" cy="347472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293606" y="3063240"/>
            <a:ext cx="1463040" cy="22860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3606" y="3044952"/>
            <a:ext cx="14630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</a:rPr>
              <a:t>PHASE 3 — Q4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48470" y="3364992"/>
            <a:ext cx="3419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The Culture Drop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48470" y="3749039"/>
            <a:ext cx="34198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B4"/>
                </a:solidFill>
              </a:rPr>
              <a:t>Full portfolio. Inter-university competition, peak content volume, campaign finale + winner announcement.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5626936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DIGITAL STRATEGY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</a:t>
            </a:r>
          </a:p>
          <a:p>
            <a:pPr algn="l"/>
            <a:r>
              <a:rPr sz="2800" b="1">
                <a:solidFill>
                  <a:srgbClr val="00C65B"/>
                </a:solidFill>
              </a:rPr>
              <a:t>Playbook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1828800"/>
            <a:ext cx="3749039" cy="420624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FF0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1828800"/>
            <a:ext cx="3749039" cy="38100"/>
          </a:xfrm>
          <a:prstGeom prst="rect">
            <a:avLst/>
          </a:prstGeom>
          <a:solidFill>
            <a:srgbClr val="FF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" y="1938528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TikTok — Virality Engine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" y="2304288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Primary platform for challenges and creator content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" y="263347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3 branded challenges (1 per phase)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" y="304495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"Fresh Check" recurring series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" y="345643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Duets, stitches, transition videos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" y="386791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8-12 creator posts/month in active phases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51959" y="1828800"/>
            <a:ext cx="3749039" cy="420624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FFF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51959" y="1828800"/>
            <a:ext cx="3749039" cy="38100"/>
          </a:xfrm>
          <a:prstGeom prst="rect">
            <a:avLst/>
          </a:prstGeom>
          <a:solidFill>
            <a:srgbClr val="FFF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16551" y="1938528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Snapchat — Daily Reality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6551" y="2304288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Authentic campus moments + AR innovation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6551" y="263347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"Fresh-O-Meter" AR Lens (branded scoring)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16551" y="304495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Day-in-my-life campus takeovers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6551" y="345643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Friend-share "Send a Fresh Drop" mechanic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16551" y="386791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4-6 stories/month + 1 AR lens per phase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83878" y="1828800"/>
            <a:ext cx="3749039" cy="420624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183878" y="1828800"/>
            <a:ext cx="3749039" cy="381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48470" y="1938528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Instagram — Brand Identity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48470" y="2304288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Curated, premium campaign presence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8470" y="263347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Polished Reels (best-of TikTok + originals)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48470" y="304495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"Fresh Guide to [University]" carousels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8470" y="345643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Stories polls: "Which Mentos are you?"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8470" y="3867912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C8D8"/>
                </a:solidFill>
              </a:rPr>
              <a:t>✦  Collab posts with creators for reach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6564758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CREATOR 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</a:t>
            </a:r>
          </a:p>
          <a:p>
            <a:pPr algn="l"/>
            <a:r>
              <a:rPr sz="2800" b="1">
                <a:solidFill>
                  <a:srgbClr val="00D4AA"/>
                </a:solidFill>
              </a:rPr>
              <a:t>Fresh Squad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1828800"/>
            <a:ext cx="2743200" cy="429768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9768" y="1920240"/>
            <a:ext cx="822960" cy="2032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9768" y="190195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TIER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2240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Anchor Creators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5603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A0B4"/>
                </a:solidFill>
              </a:rPr>
              <a:t>100K-500K followers
3-4 total | Campaign launch moments, hero content, phase kickoffs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32918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C65B"/>
                </a:solidFill>
              </a:rPr>
              <a:t>25%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37033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of creator budget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0233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0C65B"/>
                </a:solidFill>
              </a:rPr>
              <a:t>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20624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Ghalya  @ghalya.mu2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4805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Faris  @ferasjtl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46120" y="1828800"/>
            <a:ext cx="2743200" cy="429768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5848" y="1920240"/>
            <a:ext cx="822960" cy="203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55848" y="190195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TIER 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3280" y="2240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Campus Kings &amp; Queens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0" y="25603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A0B4"/>
                </a:solidFill>
              </a:rPr>
              <a:t>20K-100K followers
8-10 student-adjacent creators | Monthly content, challenge participation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3280" y="32918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AA"/>
                </a:solidFill>
              </a:rPr>
              <a:t>35%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80" y="37033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of creator budget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3280" y="40233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0D4AA"/>
                </a:solidFill>
              </a:rPr>
              <a:t>EXAMPLES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80" y="420624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Rahaf  @rahafaldossary78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3280" y="44805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Faisal  @_thnj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83280" y="475488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Renad  @r.vgq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1828800"/>
            <a:ext cx="2743200" cy="429768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81928" y="1920240"/>
            <a:ext cx="822960" cy="2032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81928" y="190195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TIER 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2240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Fresh Squad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25603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A0B4"/>
                </a:solidFill>
              </a:rPr>
              <a:t>1K-20K followers
20-30 micro student creators | Volume UGC, authentic campus content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9360" y="32918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C65B"/>
                </a:solidFill>
              </a:rPr>
              <a:t>30%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09360" y="37033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of creator budget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40233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0C65B"/>
                </a:solidFill>
              </a:rPr>
              <a:t>EXAMPLES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0" y="420624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Dana  @9mlrr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44805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Al Anoud  @life.alanoud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098280" y="1828800"/>
            <a:ext cx="2743200" cy="429768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08008" y="1920240"/>
            <a:ext cx="822960" cy="203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208008" y="190195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TIER 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35440" y="2240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Organic UGC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35440" y="25603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A0B4"/>
                </a:solidFill>
              </a:rPr>
              <a:t>Any student | Unlimited participants | Contest entries, organic challenge participation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32918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AA"/>
                </a:solidFill>
              </a:rPr>
              <a:t>10%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35440" y="37033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of creator budget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35440" y="40233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0D4AA"/>
                </a:solidFill>
              </a:rPr>
              <a:t>EXAMPLES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420624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Zina  @zaaiinnaaa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35440" y="44805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C8D8"/>
                </a:solidFill>
              </a:rPr>
              <a:t>Reham  @00rie00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7502581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UNIVERSITY 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9 Campuses. 3 Cities. </a:t>
            </a:r>
          </a:p>
          <a:p>
            <a:pPr algn="l"/>
            <a:r>
              <a:rPr sz="2400" b="1">
                <a:solidFill>
                  <a:srgbClr val="00C65B"/>
                </a:solidFill>
              </a:rPr>
              <a:t>One Fresh Movement.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1874519"/>
            <a:ext cx="3749039" cy="41148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57200" y="1984248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1938528"/>
            <a:ext cx="3291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Riyadh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" y="237744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King Saud University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" y="265176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Largest in KSA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" y="292608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Princess Nourah University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" y="320040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Largest women's uni globally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" y="347472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Imam Muhammad ibn Saud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632" y="374904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Strong campus social culture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" y="402336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Alfaisal University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" y="429768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Private, trend-setting, affluent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51959" y="1874519"/>
            <a:ext cx="3749039" cy="41148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89119" y="1984248"/>
            <a:ext cx="109728" cy="10972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1999" y="1938528"/>
            <a:ext cx="3291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Jeddah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6551" y="237744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King Abdulaziz University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16551" y="265176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Jeddah's largest. Cosmopolitan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16551" y="292608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Dar Al-Hekma University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6551" y="320040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Private, female. High IG engagement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16551" y="347472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University of Jeddah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16551" y="374904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Growing, digitally active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83878" y="1874519"/>
            <a:ext cx="3749039" cy="41148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321038" y="1984248"/>
            <a:ext cx="109728" cy="109728"/>
          </a:xfrm>
          <a:prstGeom prst="ellipse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3918" y="1938528"/>
            <a:ext cx="3291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Dammam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8470" y="237744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Imam Abdulrahman Bin Faisal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48470" y="265176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Largest in Eastern Province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8470" y="292608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KFUPM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48470" y="3200400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Elite. Gaming/tech-savvy. High virality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2179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500K+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766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Combined Student Population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0" y="62179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89120" y="6766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Target Universities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62179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65B"/>
                </a:solidFill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6766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Major Metro Areas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8440404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INVESTMENT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Budget Options — </a:t>
            </a:r>
          </a:p>
          <a:p>
            <a:pPr algn="l"/>
            <a:r>
              <a:rPr sz="2400" b="1">
                <a:solidFill>
                  <a:srgbClr val="00C65B"/>
                </a:solidFill>
              </a:rPr>
              <a:t>Choose Your Scale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261872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48640" y="1417320"/>
            <a:ext cx="11064240" cy="749808"/>
          </a:xfrm>
          <a:prstGeom prst="roundRect">
            <a:avLst/>
          </a:prstGeom>
          <a:solidFill>
            <a:srgbClr val="08101A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14630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8A9A"/>
                </a:solidFill>
              </a:rPr>
              <a:t>CREATOR RATE CARD (PER CREATOR / PER DELIVERABLE SET)</a:t>
            </a:r>
          </a:p>
        </p:txBody>
      </p:sp>
      <p:sp>
        <p:nvSpPr>
          <p:cNvPr id="42" name="Oval 41"/>
          <p:cNvSpPr/>
          <p:nvPr/>
        </p:nvSpPr>
        <p:spPr>
          <a:xfrm>
            <a:off x="685800" y="1709928"/>
            <a:ext cx="2194560" cy="254000"/>
          </a:xfrm>
          <a:prstGeom prst="ellipse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000" y="1684528"/>
            <a:ext cx="204216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C800"/>
                </a:solidFill>
              </a:rPr>
              <a:t>★ Tier 1: $10K-$15K (AED 36K-55K)</a:t>
            </a:r>
          </a:p>
        </p:txBody>
      </p:sp>
      <p:sp>
        <p:nvSpPr>
          <p:cNvPr id="44" name="Oval 43"/>
          <p:cNvSpPr/>
          <p:nvPr/>
        </p:nvSpPr>
        <p:spPr>
          <a:xfrm>
            <a:off x="2971800" y="1709928"/>
            <a:ext cx="2194560" cy="254000"/>
          </a:xfrm>
          <a:prstGeom prst="ellipse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48000" y="1684528"/>
            <a:ext cx="204216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C65B"/>
                </a:solidFill>
              </a:rPr>
              <a:t>✦ Tier 2: $7K-$9K (AED 25K-33K)</a:t>
            </a:r>
          </a:p>
        </p:txBody>
      </p:sp>
      <p:sp>
        <p:nvSpPr>
          <p:cNvPr id="46" name="Oval 45"/>
          <p:cNvSpPr/>
          <p:nvPr/>
        </p:nvSpPr>
        <p:spPr>
          <a:xfrm>
            <a:off x="5257800" y="1709928"/>
            <a:ext cx="2194560" cy="254000"/>
          </a:xfrm>
          <a:prstGeom prst="ellipse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0" y="1684528"/>
            <a:ext cx="204216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D4AA"/>
                </a:solidFill>
              </a:rPr>
              <a:t>◆ Tier 3: $5K-$7K (AED 18K-25K)</a:t>
            </a:r>
          </a:p>
        </p:txBody>
      </p:sp>
      <p:sp>
        <p:nvSpPr>
          <p:cNvPr id="48" name="Oval 47"/>
          <p:cNvSpPr/>
          <p:nvPr/>
        </p:nvSpPr>
        <p:spPr>
          <a:xfrm>
            <a:off x="7543800" y="1709928"/>
            <a:ext cx="2194560" cy="254000"/>
          </a:xfrm>
          <a:prstGeom prst="ellipse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20000" y="1684528"/>
            <a:ext cx="204216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8A9A"/>
                </a:solidFill>
              </a:rPr>
              <a:t>◇ UGC: $3K-$5K (AED 11K-18K)</a:t>
            </a:r>
          </a:p>
        </p:txBody>
      </p:sp>
      <p:sp>
        <p:nvSpPr>
          <p:cNvPr id="50" name="Oval 49"/>
          <p:cNvSpPr/>
          <p:nvPr/>
        </p:nvSpPr>
        <p:spPr>
          <a:xfrm>
            <a:off x="9829800" y="1709928"/>
            <a:ext cx="2194560" cy="254000"/>
          </a:xfrm>
          <a:prstGeom prst="ellipse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906000" y="1684528"/>
            <a:ext cx="204216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8888"/>
                </a:solidFill>
              </a:rPr>
              <a:t>⚙ Mgmt Fee: +30%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0040" y="2286000"/>
            <a:ext cx="3749039" cy="416052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235915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OPTION 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2578608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AED 100K-125K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2999232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Client's stated budget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324612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❌  0 x Tier 1 creators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350215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❌  0 x Tier 2 creators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3758184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1 x Tier 3 creator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4014216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✦  4 x UGC creators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4270248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✦  1 city | 1-2 universities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452628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✦  Q2 only (3 months)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480060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0C0D0"/>
                </a:solidFill>
              </a:rPr>
              <a:t>Creator fees: AED 81K | Mgmt: AED 24K | Paid media: AED 10K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5257800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Est. Reach: 500K-800K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51959" y="2286000"/>
            <a:ext cx="3749039" cy="4160520"/>
          </a:xfrm>
          <a:prstGeom prst="roundRect">
            <a:avLst/>
          </a:prstGeom>
          <a:solidFill>
            <a:srgbClr val="081208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119" y="235915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65B"/>
                </a:solidFill>
              </a:rPr>
              <a:t>OPTION B ★ RECOMMENDED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89119" y="2578608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AED 320K-380K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19" y="2999232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Core annual execution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89119" y="324612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❌  0 x Tier 1 creators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19" y="350215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2 x Tier 2 creators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89119" y="3758184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4 x Tier 3 creators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89119" y="4014216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✦  6 x UGC creators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9119" y="4270248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✦  2 cities | 4-6 universities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9119" y="452628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✦  Q2-Q3 (6 months)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19" y="480060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0C0D0"/>
                </a:solidFill>
              </a:rPr>
              <a:t>Creator fees: AED 236K | Mgmt: AED 71K | Paid media: AED 30K | Production: AED 15K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9119" y="5257800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Est. Reach: 4M-6M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83878" y="2286000"/>
            <a:ext cx="3749039" cy="416052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21038" y="235915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C800"/>
                </a:solidFill>
              </a:rPr>
              <a:t>OPTION 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21038" y="2578608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AED 550K-650K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21038" y="2999232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Full 9-month campaign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21038" y="324612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1 x Tier 1 anchor creator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21038" y="350215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2 x Tier 2 creators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21038" y="3758184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5 x Tier 3 creators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21038" y="4014216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❌  10 x UGC creators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1038" y="4270248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✦  3 cities | 9 universities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1038" y="452628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✦  Q2-Q4 (full year)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38" y="480060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0C0D0"/>
                </a:solidFill>
              </a:rPr>
              <a:t>Creator fees: AED 363K | Mgmt: AED 109K | Paid media: AED 55K | Production: AED 30K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1038" y="5257800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800"/>
                </a:solidFill>
              </a:rPr>
              <a:t>Est. Reach: 10M-15M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1" name="Rectangle 70"/>
          <p:cNvSpPr/>
          <p:nvPr/>
        </p:nvSpPr>
        <p:spPr>
          <a:xfrm>
            <a:off x="411480" y="4782312"/>
            <a:ext cx="11368735" cy="420624"/>
          </a:xfrm>
          <a:prstGeom prst="rect">
            <a:avLst/>
          </a:prstGeom>
          <a:solidFill>
            <a:srgbClr val="08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3941064"/>
            <a:ext cx="11368735" cy="420624"/>
          </a:xfrm>
          <a:prstGeom prst="rect">
            <a:avLst/>
          </a:prstGeom>
          <a:solidFill>
            <a:srgbClr val="08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3099816"/>
            <a:ext cx="11368735" cy="420624"/>
          </a:xfrm>
          <a:prstGeom prst="rect">
            <a:avLst/>
          </a:prstGeom>
          <a:solidFill>
            <a:srgbClr val="08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" y="2258568"/>
            <a:ext cx="11368735" cy="420624"/>
          </a:xfrm>
          <a:prstGeom prst="rect">
            <a:avLst/>
          </a:prstGeom>
          <a:solidFill>
            <a:srgbClr val="08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9378226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MEASUREMENT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KPIs &amp; </a:t>
            </a:r>
          </a:p>
          <a:p>
            <a:pPr algn="l"/>
            <a:r>
              <a:rPr sz="2800" b="1">
                <a:solidFill>
                  <a:srgbClr val="00D4AA"/>
                </a:solidFill>
              </a:rPr>
              <a:t>Performance Targets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8A9A"/>
                </a:solidFill>
              </a:rPr>
              <a:t>KPI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1783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8A9A"/>
                </a:solidFill>
              </a:rPr>
              <a:t>Option A
AED 100K-125K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Option B ★
AED 320K-380K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800"/>
                </a:solidFill>
              </a:rPr>
              <a:t>Option C
AED 550K-650K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2309368"/>
            <a:ext cx="32004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Total Reach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309368"/>
            <a:ext cx="256032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8A9A"/>
                </a:solidFill>
              </a:rPr>
              <a:t>500K-800K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2309368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5B"/>
                </a:solidFill>
              </a:rPr>
              <a:t>4M-6M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309368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00"/>
                </a:solidFill>
              </a:rPr>
              <a:t>10M-15M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2729992"/>
            <a:ext cx="32004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Total Engagements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11880" y="2729992"/>
            <a:ext cx="256032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8A9A"/>
                </a:solidFill>
              </a:rPr>
              <a:t>40K-70K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72200" y="2729992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5B"/>
                </a:solidFill>
              </a:rPr>
              <a:t>350K-500K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2729992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00"/>
                </a:solidFill>
              </a:rPr>
              <a:t>900K-1.2M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3150616"/>
            <a:ext cx="32004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Avg Engagement Rate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11880" y="3150616"/>
            <a:ext cx="256032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8A9A"/>
                </a:solidFill>
              </a:rPr>
              <a:t>6-7%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3150616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5B"/>
                </a:solidFill>
              </a:rPr>
              <a:t>7-8%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15400" y="3150616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00"/>
                </a:solidFill>
              </a:rPr>
              <a:t>7.5-9%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3571240"/>
            <a:ext cx="32004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Creator Content Pieces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571240"/>
            <a:ext cx="256032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8A9A"/>
                </a:solidFill>
              </a:rPr>
              <a:t>20-30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571240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5B"/>
                </a:solidFill>
              </a:rPr>
              <a:t>100-130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3571240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00"/>
                </a:solidFill>
              </a:rPr>
              <a:t>200-250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" y="3991864"/>
            <a:ext cx="32004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UGC / Challenge Entries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11880" y="3991864"/>
            <a:ext cx="256032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8A9A"/>
                </a:solidFill>
              </a:rPr>
              <a:t>100-200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2200" y="3991864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5B"/>
                </a:solidFill>
              </a:rPr>
              <a:t>600-900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15400" y="3991864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00"/>
                </a:solidFill>
              </a:rPr>
              <a:t>1,500-2,000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4412488"/>
            <a:ext cx="32004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Est. Product Trials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11880" y="4412488"/>
            <a:ext cx="256032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8A9A"/>
                </a:solidFill>
              </a:rPr>
              <a:t>5K-8K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412488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5B"/>
                </a:solidFill>
              </a:rPr>
              <a:t>20K-30K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400" y="4412488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00"/>
                </a:solidFill>
              </a:rPr>
              <a:t>45K-60K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4833112"/>
            <a:ext cx="32004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Cities Covered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11880" y="4833112"/>
            <a:ext cx="256032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8A9A"/>
                </a:solidFill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72200" y="4833112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5B"/>
                </a:solidFill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15400" y="4833112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00"/>
                </a:solidFill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5253736"/>
            <a:ext cx="32004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Campaign Duration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11880" y="5253736"/>
            <a:ext cx="256032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8A9A"/>
                </a:solidFill>
              </a:rPr>
              <a:t>Q2 (3 mo)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72200" y="5253736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5B"/>
                </a:solidFill>
              </a:rPr>
              <a:t>Q2-Q3 (6 mo)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15400" y="5253736"/>
            <a:ext cx="2743200" cy="3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800"/>
                </a:solidFill>
              </a:rPr>
              <a:t>Q2-Q4 (9 mo)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A9A"/>
                </a:solidFill>
              </a:rPr>
              <a:t>Tracking: Humanz Platform | Native Analytics (TT/Snap/IG) | Hashtag Tracking |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0316049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ON-GROUND PRESENCE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Offline </a:t>
            </a:r>
          </a:p>
          <a:p>
            <a:pPr algn="l"/>
            <a:r>
              <a:rPr sz="2400" b="1">
                <a:solidFill>
                  <a:srgbClr val="00C65B"/>
                </a:solidFill>
              </a:rPr>
              <a:t>Event Options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261872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A9A"/>
                </a:solidFill>
              </a:rPr>
              <a:t>Separate from digital budget. TiKiT proposes concepts — event execution by dedicated agency. Budget add-on per option.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0040" y="1920240"/>
            <a:ext cx="3749039" cy="448056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1993392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0D4AA"/>
                </a:solidFill>
              </a:rPr>
              <a:t>EVENT OPTION 1 — ESSENTIALS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2240280"/>
            <a:ext cx="34747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AED 30K-50K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633472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Sampling only | 1 city | Q2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290779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Branded sampling booths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3163824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3-4 campus cafeterias/coffee shops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3419856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4-6 brand ambassadors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3675888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Mentos sampling kits + POSM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393192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~5,000-8,000 direct trials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18795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Q2 only (Apr-Jun)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4663440"/>
            <a:ext cx="34747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C080"/>
                </a:solidFill>
              </a:rPr>
              <a:t>Low cost. High trial volume. Strong NPD awareness for White Flip-Top.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51959" y="1920240"/>
            <a:ext cx="3749039" cy="4480560"/>
          </a:xfrm>
          <a:prstGeom prst="roundRect">
            <a:avLst/>
          </a:prstGeom>
          <a:solidFill>
            <a:srgbClr val="081208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89119" y="1993392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0C65B"/>
                </a:solidFill>
              </a:rPr>
              <a:t>EVENT OPTION 2 — CAMPUS DROP ★ RECOMMENDED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19" y="2240280"/>
            <a:ext cx="34747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AED 80K-120K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19" y="2633472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Branded activation | 2 cities | Q2-Q3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89119" y="290779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"Fresh Drop Zone" branded tent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19" y="3163824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UGC creation station (ring light, backdrop)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9119" y="3419856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Interactive freshness games + prizes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19" y="3675888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Sample + limited-edition Mentos packs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89119" y="393192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2 campuses per city | 2 cities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19" y="418795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8-10 brand ambassadors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19" y="4663440"/>
            <a:ext cx="34747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CC99"/>
                </a:solidFill>
              </a:rPr>
              <a:t>Content creation on-site feeds directly into digital campaign. Creator content day can be hosted here.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83878" y="1920240"/>
            <a:ext cx="3749039" cy="448056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1A25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38" y="1993392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C800"/>
                </a:solidFill>
              </a:rPr>
              <a:t>EVENT OPTION 3 — FULL CAMPUS FESTIVAL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38" y="2240280"/>
            <a:ext cx="34747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AED 180K-250K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38" y="2633472"/>
            <a:ext cx="34747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Flagship events | 3 cities | Q2-Q4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38" y="290779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Large-format Fresh Drop Festival (3x yearly)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1038" y="3163824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Music / DJ + campus entertainment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38" y="3419856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Inter-university Fresh Challenge finale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38" y="3675888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Live prize ceremony (winner announcement)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21038" y="3931920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3 cities | 3 flagship events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21038" y="4187952"/>
            <a:ext cx="3474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C8D8"/>
                </a:solidFill>
              </a:rPr>
              <a:t>✦  Q2-Q4 calendar anchor moments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21038" y="4663440"/>
            <a:ext cx="34747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C080"/>
                </a:solidFill>
              </a:rPr>
              <a:t>Maximum brand culture. Creates year-defining moments. PR-worthy. Pairs perfectly with Option C digital.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⚠  All offline budgets are separate from digital investment options (A/B/C). Recommended pairing: Digital Option B + Offline Option 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1253872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WHY 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</a:t>
            </a:r>
          </a:p>
          <a:p>
            <a:pPr algn="l"/>
            <a:r>
              <a:rPr sz="2800" b="1">
                <a:solidFill>
                  <a:srgbClr val="00C65B"/>
                </a:solidFill>
              </a:rPr>
              <a:t>TiKiT Agency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1480" y="1920240"/>
            <a:ext cx="2743200" cy="18288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🎯 Influencer-Native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2359152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Creator management is our core — not an add-on. We know how to find, brief, manage, and measure Saudi creators at scale.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19272" y="1920240"/>
            <a:ext cx="2743200" cy="18288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56432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🇸🇦 Saudi Market Experts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6432" y="2359152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Deep understanding of local culture, platforms, humor, and creator landscape. We know what works on Saudi campuses.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27064" y="1920240"/>
            <a:ext cx="2743200" cy="18288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4224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📊 Humanz Proficiency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2359152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Seamless integration with Humanz tools for creator discovery, tracking, and campaign ROI measurement.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4856" y="1920240"/>
            <a:ext cx="2743200" cy="1828800"/>
          </a:xfrm>
          <a:prstGeom prst="roundRect">
            <a:avLst/>
          </a:prstGeom>
          <a:solidFill>
            <a:srgbClr val="0D1520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72016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🔄 Full-Service Digital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72016" y="2359152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B4"/>
                </a:solidFill>
              </a:rPr>
              <a:t>Strategy → Creator Management → Content Production → Paid Amplification → Reporting. One team, one vision.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39776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Your TiKiT Team</a:t>
            </a:r>
          </a:p>
        </p:txBody>
      </p:sp>
      <p:sp>
        <p:nvSpPr>
          <p:cNvPr id="53" name="Oval 52"/>
          <p:cNvSpPr/>
          <p:nvPr/>
        </p:nvSpPr>
        <p:spPr>
          <a:xfrm>
            <a:off x="502920" y="4434840"/>
            <a:ext cx="594360" cy="594360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4080F"/>
                </a:solidFill>
              </a:rPr>
              <a:t>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102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Alaa Al Aisami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3766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Projects Director</a:t>
            </a:r>
          </a:p>
        </p:txBody>
      </p:sp>
      <p:sp>
        <p:nvSpPr>
          <p:cNvPr id="57" name="Oval 56"/>
          <p:cNvSpPr/>
          <p:nvPr/>
        </p:nvSpPr>
        <p:spPr>
          <a:xfrm>
            <a:off x="2788920" y="4434840"/>
            <a:ext cx="594360" cy="594360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53512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4080F"/>
                </a:solidFill>
              </a:rPr>
              <a:t>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8920" y="5102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Zain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3766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Team</a:t>
            </a:r>
          </a:p>
        </p:txBody>
      </p:sp>
      <p:sp>
        <p:nvSpPr>
          <p:cNvPr id="61" name="Oval 60"/>
          <p:cNvSpPr/>
          <p:nvPr/>
        </p:nvSpPr>
        <p:spPr>
          <a:xfrm>
            <a:off x="5074920" y="4434840"/>
            <a:ext cx="594360" cy="594360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39512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4080F"/>
                </a:solidFill>
              </a:rPr>
              <a:t>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74920" y="5102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Areej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53766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Team</a:t>
            </a:r>
          </a:p>
        </p:txBody>
      </p:sp>
      <p:sp>
        <p:nvSpPr>
          <p:cNvPr id="65" name="Oval 64"/>
          <p:cNvSpPr/>
          <p:nvPr/>
        </p:nvSpPr>
        <p:spPr>
          <a:xfrm>
            <a:off x="7360920" y="4434840"/>
            <a:ext cx="594360" cy="594360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25512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4080F"/>
                </a:solidFill>
              </a:rPr>
              <a:t>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20" y="5102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Yara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60920" y="53766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Team</a:t>
            </a:r>
          </a:p>
        </p:txBody>
      </p:sp>
      <p:sp>
        <p:nvSpPr>
          <p:cNvPr id="69" name="Oval 68"/>
          <p:cNvSpPr/>
          <p:nvPr/>
        </p:nvSpPr>
        <p:spPr>
          <a:xfrm>
            <a:off x="9646920" y="4434840"/>
            <a:ext cx="594360" cy="594360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811512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4080F"/>
                </a:solidFill>
              </a:rPr>
              <a:t>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6920" y="5102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Mamdouh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46920" y="53766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8A9A"/>
                </a:solidFill>
              </a:rPr>
              <a:t>Marketing Director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8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3" name="Rectangle 52"/>
          <p:cNvSpPr/>
          <p:nvPr/>
        </p:nvSpPr>
        <p:spPr>
          <a:xfrm>
            <a:off x="548640" y="4937760"/>
            <a:ext cx="5303520" cy="594360"/>
          </a:xfrm>
          <a:prstGeom prst="rect">
            <a:avLst/>
          </a:prstGeom>
          <a:solidFill>
            <a:srgbClr val="003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5836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8521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3891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65760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608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19456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46304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73152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412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000" cy="6858000"/>
          </a:xfrm>
          <a:prstGeom prst="rect">
            <a:avLst/>
          </a:prstGeom>
          <a:noFill/>
          <a:ln w="3175">
            <a:solidFill>
              <a:srgbClr val="12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1828800"/>
            <a:ext cx="3657600" cy="3657600"/>
          </a:xfrm>
          <a:prstGeom prst="rect">
            <a:avLst/>
          </a:prstGeom>
          <a:solidFill>
            <a:srgbClr val="005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4114800"/>
            <a:ext cx="5486400" cy="5486400"/>
          </a:xfrm>
          <a:prstGeom prst="rect">
            <a:avLst/>
          </a:prstGeom>
          <a:solidFill>
            <a:srgbClr val="3A1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-1371600" y="-1371600"/>
            <a:ext cx="6400800" cy="6400800"/>
          </a:xfrm>
          <a:prstGeom prst="rect">
            <a:avLst/>
          </a:prstGeom>
          <a:solidFill>
            <a:srgbClr val="0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A9A"/>
                </a:solidFill>
              </a:rPr>
              <a:t>Prepared by TiKiT Agency for Humanz x Mentos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137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4060"/>
                </a:solidFill>
              </a:rPr>
              <a:t>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8495" y="4114800"/>
            <a:ext cx="2743200" cy="2743200"/>
          </a:xfrm>
          <a:prstGeom prst="rect">
            <a:avLst/>
          </a:prstGeom>
          <a:noFill/>
          <a:ln w="9525">
            <a:solidFill>
              <a:srgbClr val="004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780215" y="6446520"/>
            <a:ext cx="109728" cy="109728"/>
          </a:xfrm>
          <a:prstGeom prst="ellipse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65B"/>
                </a:solidFill>
              </a:rPr>
              <a:t>NEXT STEPS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Let's Make It </a:t>
            </a:r>
          </a:p>
          <a:p>
            <a:pPr algn="l"/>
            <a:r>
              <a:rPr sz="2800" b="1">
                <a:solidFill>
                  <a:srgbClr val="00C65B"/>
                </a:solidFill>
              </a:rPr>
              <a:t>Fresh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1554480"/>
            <a:ext cx="640080" cy="381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Execution Timeline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2245360"/>
            <a:ext cx="777240" cy="2286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2245360"/>
            <a:ext cx="7772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WEEK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22707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C8D8"/>
                </a:solidFill>
              </a:rPr>
              <a:t>Campaign approved. Creator scouting begins.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2931160"/>
            <a:ext cx="777240" cy="2286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2931160"/>
            <a:ext cx="7772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WEEK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17320" y="2956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C8D8"/>
                </a:solidFill>
              </a:rPr>
              <a:t>Creator shortlist. AR lens brief. Content calendar V1.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616960"/>
            <a:ext cx="777240" cy="2286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616960"/>
            <a:ext cx="7772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WEEK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36423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C8D8"/>
                </a:solidFill>
              </a:rPr>
              <a:t>Creators contracted. Samples shipped. Toolkit produced.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302760"/>
            <a:ext cx="777240" cy="2286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4302760"/>
            <a:ext cx="7772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WEEK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43281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C8D8"/>
                </a:solidFill>
              </a:rPr>
              <a:t>Onboarding. Pre-launch teasers filmed. AR in dev.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988560"/>
            <a:ext cx="777240" cy="228600"/>
          </a:xfrm>
          <a:prstGeom prst="rect">
            <a:avLst/>
          </a:prstGeom>
          <a:solidFill>
            <a:srgbClr val="00C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4988560"/>
            <a:ext cx="7772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4080F"/>
                </a:solidFill>
              </a:rPr>
              <a:t>APRIL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5013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🚀 FRESH DROP GOES LIVE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1737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We Need to Start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2194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C8D8"/>
                </a:solidFill>
              </a:rPr>
              <a:t>✦  Campaign approval &amp; budget confirmation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267004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C8D8"/>
                </a:solidFill>
              </a:rPr>
              <a:t>✦  Product samples for creator seeding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14553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C8D8"/>
                </a:solidFill>
              </a:rPr>
              <a:t>✦  Brand guidelines &amp; approved messaging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362102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C8D8"/>
                </a:solidFill>
              </a:rPr>
              <a:t>✦  Humanz platform access for creator vetting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409651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C8D8"/>
                </a:solidFill>
              </a:rPr>
              <a:t>✦  Event agency intro (for offline coordination)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4572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C8D8"/>
                </a:solidFill>
              </a:rPr>
              <a:t>✦  Air Action launch timing confirmation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00800" y="5074920"/>
            <a:ext cx="5486400" cy="1143000"/>
          </a:xfrm>
          <a:prstGeom prst="roundRect">
            <a:avLst/>
          </a:prstGeom>
          <a:solidFill>
            <a:srgbClr val="002812"/>
          </a:solidFill>
          <a:ln w="9525">
            <a:solidFill>
              <a:srgbClr val="00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65392" y="51663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Ready to drop?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65392" y="54864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C8D8"/>
                </a:solidFill>
              </a:rPr>
              <a:t>Let's schedule a kickoff call and make Saudi campuses the freshest places on earth.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